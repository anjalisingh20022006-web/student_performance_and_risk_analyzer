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Arial Black" panose="020B0A04020102020204" charset="0"/>
      <p:bold r:id="rId16"/>
    </p:embeddedFont>
    <p:embeddedFont>
      <p:font typeface="Arial Rounded MT Bold" panose="020F0704030504030204" charset="0"/>
      <p:regular r:id="rId17"/>
    </p:embeddedFont>
    <p:embeddedFont>
      <p:font typeface="Inter" panose="02000503000000020004" pitchFamily="34" charset="0"/>
      <p:regular r:id="rId18"/>
    </p:embeddedFont>
    <p:embeddedFont>
      <p:font typeface="Inter" panose="02000503000000020004" pitchFamily="34" charset="-122"/>
      <p:regular r:id="rId19"/>
    </p:embeddedFont>
    <p:embeddedFont>
      <p:font typeface="Inter" panose="02000503000000020004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D"/>
    <a:srgbClr val="FAFCFD"/>
    <a:srgbClr val="F9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1.svg"/><Relationship Id="rId6" Type="http://schemas.openxmlformats.org/officeDocument/2006/relationships/image" Target="../media/image20.jpeg"/><Relationship Id="rId5" Type="http://schemas.openxmlformats.org/officeDocument/2006/relationships/image" Target="../media/image19.svg"/><Relationship Id="rId4" Type="http://schemas.openxmlformats.org/officeDocument/2006/relationships/image" Target="../media/image18.jpeg"/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jpeg"/><Relationship Id="rId4" Type="http://schemas.openxmlformats.org/officeDocument/2006/relationships/image" Target="../media/image25.svg"/><Relationship Id="rId3" Type="http://schemas.openxmlformats.org/officeDocument/2006/relationships/image" Target="../media/image24.jpeg"/><Relationship Id="rId2" Type="http://schemas.openxmlformats.org/officeDocument/2006/relationships/image" Target="../media/image23.svg"/><Relationship Id="rId1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1058" y="2173161"/>
            <a:ext cx="7556421" cy="22327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rial Black" panose="020B0A04020102020204" charset="0"/>
                <a:ea typeface="Petrona Bold" pitchFamily="34" charset="-122"/>
                <a:cs typeface="Arial Black" panose="020B0A04020102020204" charset="0"/>
              </a:rPr>
              <a:t>Student Performance Progression And Risk Analyzer</a:t>
            </a:r>
            <a:endParaRPr lang="en-US" sz="4650" b="1" dirty="0">
              <a:solidFill>
                <a:srgbClr val="000000"/>
              </a:solidFill>
              <a:latin typeface="Arial Black" panose="020B0A04020102020204" charset="0"/>
              <a:ea typeface="Petrona Bold" pitchFamily="34" charset="-122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8038" y="907137"/>
            <a:ext cx="7700724" cy="1082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Why Student Performance Progression Matters</a:t>
            </a:r>
            <a:endParaRPr lang="en-US" sz="3400" b="1" dirty="0">
              <a:solidFill>
                <a:srgbClr val="000000"/>
              </a:solidFill>
              <a:latin typeface="Arial Rounded MT Bold" panose="020F0704030504030204" charset="0"/>
              <a:ea typeface="Petrona Bold" pitchFamily="34" charset="-122"/>
              <a:cs typeface="Arial Rounded MT Bold" panose="020F070403050403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08038" y="2298859"/>
            <a:ext cx="3747254" cy="2247900"/>
          </a:xfrm>
          <a:prstGeom prst="roundRect">
            <a:avLst>
              <a:gd name="adj" fmla="val 48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85178" y="2298859"/>
            <a:ext cx="91440" cy="2247900"/>
          </a:xfrm>
          <a:prstGeom prst="roundRect">
            <a:avLst>
              <a:gd name="adj" fmla="val 94715"/>
            </a:avLst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05575" y="2527816"/>
            <a:ext cx="3220760" cy="676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Strengths &amp; Needs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05575" y="3328035"/>
            <a:ext cx="3220760" cy="989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Enables educators to pinpoint individual student strengths and areas requiring focused support.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1389" y="2298859"/>
            <a:ext cx="3747373" cy="2247900"/>
          </a:xfrm>
          <a:prstGeom prst="roundRect">
            <a:avLst>
              <a:gd name="adj" fmla="val 48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38529" y="2298859"/>
            <a:ext cx="91440" cy="2247900"/>
          </a:xfrm>
          <a:prstGeom prst="roundRect">
            <a:avLst>
              <a:gd name="adj" fmla="val 94715"/>
            </a:avLst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58926" y="2527816"/>
            <a:ext cx="2790587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Data-Driven Decisions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458926" y="2989778"/>
            <a:ext cx="3220879" cy="1319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Promotes informed decisions based on concrete data to continuously enhance learning outcomes.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038" y="4752856"/>
            <a:ext cx="3747254" cy="2569488"/>
          </a:xfrm>
          <a:prstGeom prst="roundRect">
            <a:avLst>
              <a:gd name="adj" fmla="val 427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85178" y="4752856"/>
            <a:ext cx="91440" cy="2569488"/>
          </a:xfrm>
          <a:prstGeom prst="roundRect">
            <a:avLst>
              <a:gd name="adj" fmla="val 94715"/>
            </a:avLst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05575" y="4981813"/>
            <a:ext cx="270641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Foster Transparency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05575" y="5443776"/>
            <a:ext cx="3220760" cy="16496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Builds openness and strong collaboration among teachers, students, and parents, fostering a shared understanding of progress.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2667785" y="7605132"/>
            <a:ext cx="1884556" cy="546409"/>
          </a:xfrm>
          <a:prstGeom prst="rect">
            <a:avLst/>
          </a:prstGeom>
          <a:solidFill>
            <a:srgbClr val="FBFCFD"/>
          </a:solidFill>
          <a:ln>
            <a:solidFill>
              <a:srgbClr val="FA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993" y="1102043"/>
            <a:ext cx="5331023" cy="4121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Understanding Performance Levels</a:t>
            </a:r>
            <a:endParaRPr lang="en-US" sz="2550" b="1" dirty="0">
              <a:solidFill>
                <a:srgbClr val="000000"/>
              </a:solidFill>
              <a:latin typeface="Arial Rounded MT Bold" panose="020F0704030504030204" charset="0"/>
              <a:ea typeface="Petrona Bold" pitchFamily="34" charset="-122"/>
              <a:cs typeface="Arial Rounded MT Bold" panose="020F07040305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35993" y="1749742"/>
            <a:ext cx="8044815" cy="5024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categorize student performance into four key levels, mirroring comprehensive assessment models like the Wisconsin Forward Exam: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993" y="2428756"/>
            <a:ext cx="785098" cy="7852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78015" y="2428756"/>
            <a:ext cx="2060972" cy="257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Developing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978015" y="2780467"/>
            <a:ext cx="7102793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Beginning to grasp concepts, needs significant support.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993" y="3370897"/>
            <a:ext cx="785098" cy="7852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78015" y="3370897"/>
            <a:ext cx="2060972" cy="257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Approaching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978015" y="3722608"/>
            <a:ext cx="7102793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Shows understanding but requires further practice and guidance.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993" y="4313039"/>
            <a:ext cx="785098" cy="7852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78015" y="4313039"/>
            <a:ext cx="2060972" cy="257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Meeting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978015" y="4664750"/>
            <a:ext cx="7102793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Demonstrates solid understanding and grade-level readiness.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993" y="5255181"/>
            <a:ext cx="785098" cy="78521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78015" y="5255181"/>
            <a:ext cx="2060972" cy="257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978015" y="5606891"/>
            <a:ext cx="7102793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Exceeds expectations, shows mastery and independent application.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035993" y="6373892"/>
            <a:ext cx="8044815" cy="75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overarching goal is to effectively move all students towards the Meeting and Advanced levels, ensuring comprehensive grade-level readiness. This is achieved by combining multiple measures including test scores, classroom assessments, and active participation.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12779298" y="7772400"/>
            <a:ext cx="1851102" cy="323136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812" y="536615"/>
            <a:ext cx="10329863" cy="5107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  <a:sym typeface="+mn-ea"/>
              </a:rPr>
              <a:t>Methodology: Our Comprehensive Progress Monitoring</a:t>
            </a:r>
            <a:endParaRPr lang="en-US" sz="32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1812" y="1514237"/>
            <a:ext cx="5915978" cy="3112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Continuous formative assessments track learning over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61812" y="1893451"/>
            <a:ext cx="5915978" cy="6224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Visual tools like charts, graphs, and infographics for clear communication.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812" y="2583894"/>
            <a:ext cx="5915978" cy="6224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Incorporation of behavioral and attendance data for a holistic student view.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812" y="3274338"/>
            <a:ext cx="5915978" cy="6224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Regular feedback loops with students and parents to set achievable goals.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993" y="1558052"/>
            <a:ext cx="5915978" cy="59159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745844" y="7716644"/>
            <a:ext cx="1884556" cy="512956"/>
          </a:xfrm>
          <a:prstGeom prst="rect">
            <a:avLst/>
          </a:prstGeom>
          <a:solidFill>
            <a:srgbClr val="F9FB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269"/>
            <a:ext cx="7005161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42329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39345"/>
            <a:ext cx="3591878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Progress Reports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747504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PowerPoint-based reports with stair-step visuals to clearly illustrate growth milestones.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442329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39345"/>
            <a:ext cx="3127415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Multimedia Showcases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5747504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Integration of multimedia elements to highlight student projects and celebrate achievements.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442329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39345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Tailored Infographics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5747504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of editable infographics allows for personalized and precise reporting tailored to individual student needs.</a:t>
            </a:r>
            <a:endParaRPr lang="en-US" sz="1750" dirty="0"/>
          </a:p>
        </p:txBody>
      </p:sp>
      <p:sp>
        <p:nvSpPr>
          <p:cNvPr id="12" name="Rectangle 11"/>
          <p:cNvSpPr/>
          <p:nvPr/>
        </p:nvSpPr>
        <p:spPr>
          <a:xfrm>
            <a:off x="12745844" y="7761249"/>
            <a:ext cx="1884556" cy="379141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27405" y="1017905"/>
            <a:ext cx="8301990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  <a:sym typeface="+mn-ea"/>
              </a:rPr>
              <a:t>Tools and Techniques Employed</a:t>
            </a:r>
            <a:endParaRPr lang="en-US" sz="36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3547"/>
            <a:ext cx="7556421" cy="1190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Future Scope: Expanding and Enhancing Progress Tracking</a:t>
            </a:r>
            <a:endParaRPr lang="en-US" sz="3750" b="1" dirty="0">
              <a:solidFill>
                <a:srgbClr val="000000"/>
              </a:solidFill>
              <a:latin typeface="Arial Rounded MT Bold" panose="020F0704030504030204" charset="0"/>
              <a:ea typeface="Petrona Bold" pitchFamily="34" charset="-122"/>
              <a:cs typeface="Arial Rounded MT Bold" panose="020F070403050403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12908"/>
            <a:ext cx="226814" cy="22681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2639616"/>
            <a:ext cx="3664744" cy="30480"/>
          </a:xfrm>
          <a:prstGeom prst="rect">
            <a:avLst/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793790" y="2813923"/>
            <a:ext cx="3432453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Data Analytics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793790" y="3322082"/>
            <a:ext cx="3664744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Implementing advanced data analytics for predictive insights into student performance, anticipating future needs.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348" y="2312908"/>
            <a:ext cx="226814" cy="2268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85348" y="2639616"/>
            <a:ext cx="3664863" cy="30480"/>
          </a:xfrm>
          <a:prstGeom prst="rect">
            <a:avLst/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685348" y="2813923"/>
            <a:ext cx="3664863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Mobile-Friendly Dashboards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4685348" y="3694152"/>
            <a:ext cx="3664863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Developing intuitive, mobile-friendly dashboards for real-time updates and on-the-go access to student progress.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570934"/>
            <a:ext cx="226814" cy="22681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5897642"/>
            <a:ext cx="7556421" cy="30480"/>
          </a:xfrm>
          <a:prstGeom prst="rect">
            <a:avLst/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93790" y="6071949"/>
            <a:ext cx="4461272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Social-Emotional Learning (SEL)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793790" y="658010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Expanding metrics to include crucial social-emotional learning alongside academic achievements for a holistic view.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7783"/>
            <a:ext cx="11912441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How Our Project Excels Beyond Traditional Extensions</a:t>
            </a:r>
            <a:endParaRPr lang="en-US" sz="375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4454" y="3840837"/>
            <a:ext cx="3234571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Continuous Monitoring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348996"/>
            <a:ext cx="378523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Emphasizes ongoing, real-time monitoring rather than infrequent, periodic snapshots.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7717" y="446948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23887"/>
            <a:ext cx="3208734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Proactive Interventions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937790" y="3032046"/>
            <a:ext cx="3898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Fosters early identification of learning gaps, enabling immediate and targeted support.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26" y="3085862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795004"/>
            <a:ext cx="3133963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Empowerment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937790" y="5303163"/>
            <a:ext cx="38988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Encourages self-monitoring and goal-setting, fostering greater student ownership of their learning journey.</a:t>
            </a:r>
            <a:endParaRPr lang="en-US" sz="17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5853113"/>
            <a:ext cx="339328" cy="3393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706231" y="7683190"/>
            <a:ext cx="1924169" cy="546410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4" descr="C:/Users/Anjli/OneDrive/Pictures/Screenshots/Screenshot 2026-01-15 181942.pngScreenshot 2026-01-15 181942"/>
          <p:cNvPicPr>
            <a:picLocks noChangeAspect="1"/>
          </p:cNvPicPr>
          <p:nvPr/>
        </p:nvPicPr>
        <p:blipFill>
          <a:blip r:embed="rId7"/>
          <a:srcRect l="2517" r="2517"/>
          <a:stretch>
            <a:fillRect/>
          </a:stretch>
        </p:blipFill>
        <p:spPr>
          <a:xfrm>
            <a:off x="4976138" y="2286357"/>
            <a:ext cx="4564975" cy="4564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9718" y="419457"/>
            <a:ext cx="5394722" cy="3988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Visualizing Success: Before and After</a:t>
            </a:r>
            <a:endParaRPr lang="en-US" sz="250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09718" y="1198126"/>
            <a:ext cx="1994297" cy="249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Before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509718" y="1599248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Limited and fragmented data.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09718" y="1895356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Delayed and infrequent feedback.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09718" y="2191464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Generic, one-size-fits-all reports.</a:t>
            </a:r>
            <a:endParaRPr lang="en-US" sz="11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186517" y="2605326"/>
            <a:ext cx="3266384" cy="46199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8081" y="1198126"/>
            <a:ext cx="1994297" cy="249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After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08081" y="1599248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Real-time, comprehensive insights.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08081" y="1895356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Personalized and actionable feedback.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8081" y="2191464"/>
            <a:ext cx="4619982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Engaging visuals, collaborative goal-setting.</a:t>
            </a:r>
            <a:endParaRPr lang="en-US" sz="1150" dirty="0"/>
          </a:p>
        </p:txBody>
      </p:sp>
      <p:pic>
        <p:nvPicPr>
          <p:cNvPr id="12" name="Imag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08081" y="2605326"/>
            <a:ext cx="4619982" cy="46199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7219" y="7627434"/>
            <a:ext cx="9610844" cy="243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result: Improved student motivation, higher academic achievement, and stronger home-school partnerships.</a:t>
            </a:r>
            <a:endParaRPr lang="en-US" sz="1150" dirty="0"/>
          </a:p>
        </p:txBody>
      </p:sp>
      <p:sp>
        <p:nvSpPr>
          <p:cNvPr id="14" name="Rectangle 13"/>
          <p:cNvSpPr/>
          <p:nvPr/>
        </p:nvSpPr>
        <p:spPr>
          <a:xfrm>
            <a:off x="12545122" y="7672039"/>
            <a:ext cx="2085278" cy="557561"/>
          </a:xfrm>
          <a:prstGeom prst="rect">
            <a:avLst/>
          </a:prstGeom>
          <a:solidFill>
            <a:srgbClr val="FA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4262"/>
            <a:ext cx="6035040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Arial Rounded MT Bold" panose="020F0704030504030204" charset="0"/>
                <a:ea typeface="Petrona Bold" pitchFamily="34" charset="-122"/>
                <a:cs typeface="Arial Rounded MT Bold" panose="020F0704030504030204" charset="0"/>
              </a:rPr>
              <a:t>Conclusion &amp; Call to Action</a:t>
            </a:r>
            <a:endParaRPr lang="en-US" sz="3750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3951" y="2905006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Effective student performance progression is the key to unlocking every student's full potential.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49855"/>
            <a:ext cx="30480" cy="873204"/>
          </a:xfrm>
          <a:prstGeom prst="rect">
            <a:avLst/>
          </a:prstGeom>
          <a:solidFill>
            <a:srgbClr val="007EBD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77821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project offers a transformative, data-driven approach to education, moving beyond traditional methods.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81274"/>
            <a:ext cx="3572470" cy="446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Let's commit to: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3790" y="526803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7EBD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Smarter Monitoring:</a:t>
            </a: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Utilizing advanced tools for precise tracking.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1023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7EBD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Clearer Communication:</a:t>
            </a: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Ensuring all stakeholders are informed and engaged.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5243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7EBD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Better Outcomes:</a:t>
            </a: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Achieving improved results for every learner.</a:t>
            </a:r>
            <a:endParaRPr lang="en-US" sz="1750" dirty="0"/>
          </a:p>
        </p:txBody>
      </p:sp>
      <p:sp>
        <p:nvSpPr>
          <p:cNvPr id="10" name="Rectangle 9"/>
          <p:cNvSpPr/>
          <p:nvPr/>
        </p:nvSpPr>
        <p:spPr>
          <a:xfrm>
            <a:off x="12745844" y="7601280"/>
            <a:ext cx="1884556" cy="535259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3577</Words>
  <Application>WPS Presentation</Application>
  <PresentationFormat>Custom</PresentationFormat>
  <Paragraphs>124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Arial Black</vt:lpstr>
      <vt:lpstr>Petrona Bold</vt:lpstr>
      <vt:lpstr>Arial Rounded MT Bold</vt:lpstr>
      <vt:lpstr>Petrona Bold</vt:lpstr>
      <vt:lpstr>Petrona Bold</vt:lpstr>
      <vt:lpstr>Inter</vt:lpstr>
      <vt:lpstr>Inter</vt:lpstr>
      <vt:lpstr>Inter</vt:lpstr>
      <vt:lpstr>Segoe Print</vt:lpstr>
      <vt:lpstr>Microsoft YaHei</vt:lpstr>
      <vt:lpstr>Arial Unicode MS</vt:lpstr>
      <vt:lpstr>MingLiU-ExtB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Anjali Singh</cp:lastModifiedBy>
  <cp:revision>6</cp:revision>
  <dcterms:created xsi:type="dcterms:W3CDTF">2026-01-15T11:54:00Z</dcterms:created>
  <dcterms:modified xsi:type="dcterms:W3CDTF">2026-01-15T12:50:30Z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188D17D78BB84B29883FDE3A9478F179_12</vt:lpwstr>
  </property>
  <property fmtid="{D5CDD505-2E9C-101B-9397-08002B2CF9AE}" pid="3" name="KSOProductBuildVer">
    <vt:lpwstr>1033-12.2.0.23196</vt:lpwstr>
  </property>
</Properties>
</file>